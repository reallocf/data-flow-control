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eallocf/data-flow-control/commit/c82570b0c18408e2dceb792602036881943abf0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1C1C"/>
                </a:solidFill>
              </a:defRPr>
            </a:pPr>
            <a:r>
              <a:t>Section 274: bounded statutory-dependency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Concrete DFC context-construction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241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C1C"/>
                </a:solidFill>
              </a:defRPr>
            </a:pPr>
            <a:r>
              <a:t>Research question: which statutory dependencies enter context?</a:t>
            </a:r>
          </a:p>
          <a:p>
            <a:pPr>
              <a:spcAft>
                <a:spcPts val="800"/>
              </a:spcAft>
              <a:defRPr sz="2200">
                <a:solidFill>
                  <a:srgbClr val="1C1C1C"/>
                </a:solidFill>
              </a:defRPr>
            </a:pPr>
            <a:r>
              <a:t>Direct references map to statutory units before recursive expansion.</a:t>
            </a:r>
          </a:p>
          <a:p>
            <a:pPr>
              <a:spcAft>
                <a:spcPts val="800"/>
              </a:spcAft>
              <a:defRPr sz="2200">
                <a:solidFill>
                  <a:srgbClr val="1C1C1C"/>
                </a:solidFill>
              </a:defRPr>
            </a:pPr>
            <a:r>
              <a:t>Later layers enter only while cumulative context remains within capacity.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1C1C"/>
                </a:solidFill>
              </a:defRPr>
            </a:pPr>
            <a:r>
              <a:t>Entry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Direct tax-code branch plus the section 274 cross-code branch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417320" cy="1097280"/>
          </a:xfrm>
          <a:prstGeom prst="roundRect">
            <a:avLst/>
          </a:prstGeom>
          <a:solidFill>
            <a:srgbClr val="E6EAEF"/>
          </a:solidFill>
          <a:ln>
            <a:solidFill>
              <a:srgbClr val="4A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C1C1C"/>
                </a:solidFill>
              </a:defRPr>
            </a:pPr>
            <a:r>
              <a:t>§274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965960"/>
            <a:ext cx="2788920" cy="1737360"/>
          </a:xfrm>
          <a:prstGeom prst="roundRect">
            <a:avLst/>
          </a:prstGeom>
          <a:solidFill>
            <a:srgbClr val="E6EAEF"/>
          </a:solidFill>
          <a:ln>
            <a:solidFill>
              <a:srgbClr val="4A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C1C1C"/>
                </a:solidFill>
              </a:defRPr>
            </a:pPr>
            <a:r>
              <a:t>19 mapped units</a:t>
            </a:r>
            <a:br/>
            <a:r>
              <a:t>15 tax-code sections</a:t>
            </a:r>
            <a:br/>
            <a:r>
              <a:t>15,119 tokens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965960"/>
            <a:ext cx="2514600" cy="1737360"/>
          </a:xfrm>
          <a:prstGeom prst="roundRect">
            <a:avLst/>
          </a:prstGeom>
          <a:solidFill>
            <a:srgbClr val="E6EAEF"/>
          </a:solidFill>
          <a:ln>
            <a:solidFill>
              <a:srgbClr val="4A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C1C1C"/>
                </a:solidFill>
              </a:defRPr>
            </a:pPr>
            <a:r>
              <a:t>3 cross-code provisions</a:t>
            </a:r>
            <a:br/>
            <a:r>
              <a:t>9,179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965960"/>
            <a:ext cx="1965960" cy="1737360"/>
          </a:xfrm>
          <a:prstGeom prst="roundRect">
            <a:avLst/>
          </a:prstGeom>
          <a:solidFill>
            <a:srgbClr val="E6EAEF"/>
          </a:solidFill>
          <a:ln>
            <a:solidFill>
              <a:srgbClr val="4A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C1C1C"/>
                </a:solidFill>
              </a:defRPr>
            </a:pPr>
            <a:r>
              <a:t>Layer 1 combined</a:t>
            </a:r>
            <a:br/>
            <a:r>
              <a:t>24,298 tokens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40" y="2834640"/>
            <a:ext cx="731520" cy="0"/>
          </a:xfrm>
          <a:prstGeom prst="line">
            <a:avLst/>
          </a:prstGeom>
          <a:ln>
            <a:solidFill>
              <a:srgbClr val="4A6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69280" y="2834640"/>
            <a:ext cx="731520" cy="0"/>
          </a:xfrm>
          <a:prstGeom prst="line">
            <a:avLst/>
          </a:prstGeom>
          <a:ln>
            <a:solidFill>
              <a:srgbClr val="4A6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15400" y="2834640"/>
            <a:ext cx="594360" cy="0"/>
          </a:xfrm>
          <a:prstGeom prst="line">
            <a:avLst/>
          </a:prstGeom>
          <a:ln>
            <a:solidFill>
              <a:srgbClr val="4A6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1C1C"/>
                </a:solidFill>
              </a:defRPr>
            </a:pPr>
            <a:r>
              <a:t>Hierarchy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Plain-text hierarchy compared with an independent XML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08760"/>
            <a:ext cx="98755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§267: 88 found / 88 expected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Extra structural identifiers: 0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Missing structural identifiers: 0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§274: 142 found / 142 expected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Extra structural identifiers: 0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Missing structural identifiers: 0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The resolver derives hierarchy from plain statutory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1C1C"/>
                </a:solidFill>
              </a:defRPr>
            </a:pPr>
            <a:r>
              <a:t>Capacity trace after structural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Cross-code branch included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C1C1C"/>
                </a:solidFill>
              </a:defRPr>
            </a:pPr>
            <a:r>
              <a:t>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50876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C1C1C"/>
                </a:solidFill>
              </a:defRPr>
            </a:pPr>
            <a:r>
              <a:t>New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50876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C1C1C"/>
                </a:solidFill>
              </a:defRPr>
            </a:pPr>
            <a:r>
              <a:t>Cumulative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50876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C1C1C"/>
                </a:solidFill>
              </a:defRPr>
            </a:pPr>
            <a:r>
              <a:t>Combined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50876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C1C1C"/>
                </a:solidFill>
              </a:defRPr>
            </a:pPr>
            <a:r>
              <a:t>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150876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C1C1C"/>
                </a:solidFill>
              </a:defRPr>
            </a:pPr>
            <a:r>
              <a:t>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05740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05740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0574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24,298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05740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992,498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205740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1576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715768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715768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71576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171,340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71576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992,498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2715768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74136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374136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289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374136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332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374136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627,165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374136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992,498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374136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032504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032504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460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032504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708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032504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1,197,630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032504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992,498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4032504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1C1C"/>
                </a:solidFill>
              </a:defRPr>
            </a:pPr>
            <a: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074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1C1C"/>
                </a:solidFill>
              </a:defRPr>
            </a:pPr>
            <a:r>
              <a:t>Layer 3 remains within capacity.</a:t>
            </a:r>
          </a:p>
          <a:p>
            <a:pPr>
              <a:spcAft>
                <a:spcPts val="800"/>
              </a:spcAft>
              <a:defRPr sz="1800">
                <a:solidFill>
                  <a:srgbClr val="1C1C1C"/>
                </a:solidFill>
              </a:defRPr>
            </a:pPr>
            <a:r>
              <a:t>Layer 4 is the first complete structural layer beyond capacity.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1C1C"/>
                </a:solidFill>
              </a:defRPr>
            </a:pPr>
            <a:r>
              <a:t>Baseline retrieval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103327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1  Begin with the target provision.</a:t>
            </a:r>
          </a:p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2  Map direct statutory references to structural units.</a:t>
            </a:r>
          </a:p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3  Remove repeated or contained targets.</a:t>
            </a:r>
          </a:p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4  Resolve the direct cross-code branch.</a:t>
            </a:r>
          </a:p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5  Form later dependencies breadth-first.</a:t>
            </a:r>
          </a:p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6  Measure a complete candidate layer before admission.</a:t>
            </a:r>
          </a:p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7  Admit the layer only while cumulative context remains within capacity.</a:t>
            </a:r>
          </a:p>
          <a:p>
            <a:pPr>
              <a:spcAft>
                <a:spcPts val="800"/>
              </a:spcAft>
              <a:defRPr sz="1700">
                <a:solidFill>
                  <a:srgbClr val="1C1C1C"/>
                </a:solidFill>
              </a:defRPr>
            </a:pPr>
            <a:r>
              <a:t>8  Stop before the first complete layer beyond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/>
              <a:t>Three-condition policy-extraction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Same Section 274 target, extraction instructions, model, and temperature; statutory context is the controlled variable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27632"/>
            <a:ext cx="3474720" cy="3246120"/>
          </a:xfrm>
          <a:prstGeom prst="roundRect">
            <a:avLst/>
          </a:prstGeom>
          <a:solidFill>
            <a:srgbClr val="E6EAEF"/>
          </a:solidFill>
          <a:ln w="15875">
            <a:solidFill>
              <a:srgbClr val="4A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82880" bIns="137160"/>
          <a:lstStyle/>
          <a:p>
            <a:pPr algn="ctr"/>
            <a:r>
              <a:rPr sz="1800" b="1">
                <a:solidFill>
                  <a:srgbClr val="4A607A"/>
                </a:solidFill>
              </a:rPr>
              <a:t>Target-only</a:t>
            </a:r>
          </a:p>
          <a:p>
            <a:pPr algn="ctr">
              <a:spcBef>
                <a:spcPts val="800"/>
              </a:spcBef>
            </a:pPr>
            <a:r>
              <a:rPr sz="2500" b="1">
                <a:solidFill>
                  <a:srgbClr val="222F3E"/>
                </a:solidFill>
              </a:rPr>
              <a:t>5,926 tokens</a:t>
            </a:r>
          </a:p>
          <a:p>
            <a:pPr algn="ctr">
              <a:spcBef>
                <a:spcPts val="900"/>
              </a:spcBef>
            </a:pPr>
            <a:r>
              <a:rPr sz="1450">
                <a:solidFill>
                  <a:srgbClr val="222F3E"/>
                </a:solidFill>
              </a:rPr>
              <a:t>Section 274 main text only</a:t>
            </a:r>
          </a:p>
          <a:p>
            <a:pPr algn="ctr">
              <a:spcBef>
                <a:spcPts val="1000"/>
              </a:spcBef>
            </a:pPr>
            <a:r>
              <a:rPr sz="1350" b="1">
                <a:solidFill>
                  <a:srgbClr val="5E6B78"/>
                </a:solidFill>
              </a:rPr>
              <a:t>3 replicates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2544" y="1627632"/>
            <a:ext cx="3474720" cy="3246120"/>
          </a:xfrm>
          <a:prstGeom prst="roundRect">
            <a:avLst/>
          </a:prstGeom>
          <a:solidFill>
            <a:srgbClr val="E6EAEF"/>
          </a:solidFill>
          <a:ln w="15875">
            <a:solidFill>
              <a:srgbClr val="4A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82880" bIns="137160"/>
          <a:lstStyle/>
          <a:p>
            <a:pPr algn="ctr"/>
            <a:r>
              <a:rPr sz="1800" b="1">
                <a:solidFill>
                  <a:srgbClr val="4A607A"/>
                </a:solidFill>
              </a:rPr>
              <a:t>Direct</a:t>
            </a:r>
          </a:p>
          <a:p>
            <a:pPr algn="ctr">
              <a:spcBef>
                <a:spcPts val="800"/>
              </a:spcBef>
            </a:pPr>
            <a:r>
              <a:rPr sz="2500" b="1">
                <a:solidFill>
                  <a:srgbClr val="222F3E"/>
                </a:solidFill>
              </a:rPr>
              <a:t>30,260 tokens</a:t>
            </a:r>
          </a:p>
          <a:p>
            <a:pPr algn="ctr">
              <a:spcBef>
                <a:spcPts val="900"/>
              </a:spcBef>
            </a:pPr>
            <a:r>
              <a:rPr sz="1450">
                <a:solidFill>
                  <a:srgbClr val="222F3E"/>
                </a:solidFill>
              </a:rPr>
              <a:t>§274 + 19 direct Title-26 units
+ 3 direct cross-code provisions</a:t>
            </a:r>
          </a:p>
          <a:p>
            <a:pPr algn="ctr">
              <a:spcBef>
                <a:spcPts val="1000"/>
              </a:spcBef>
            </a:pPr>
            <a:r>
              <a:rPr sz="1350" b="1">
                <a:solidFill>
                  <a:srgbClr val="5E6B78"/>
                </a:solidFill>
              </a:rPr>
              <a:t>3 replicates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3296" y="1627632"/>
            <a:ext cx="3474720" cy="3246120"/>
          </a:xfrm>
          <a:prstGeom prst="roundRect">
            <a:avLst/>
          </a:prstGeom>
          <a:solidFill>
            <a:srgbClr val="E6EAEF"/>
          </a:solidFill>
          <a:ln w="15875">
            <a:solidFill>
              <a:srgbClr val="4A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82880" bIns="137160"/>
          <a:lstStyle/>
          <a:p>
            <a:pPr algn="ctr"/>
            <a:r>
              <a:rPr sz="1800" b="1">
                <a:solidFill>
                  <a:srgbClr val="4A607A"/>
                </a:solidFill>
              </a:rPr>
              <a:t>Bounded</a:t>
            </a:r>
          </a:p>
          <a:p>
            <a:pPr algn="ctr">
              <a:spcBef>
                <a:spcPts val="800"/>
              </a:spcBef>
            </a:pPr>
            <a:r>
              <a:rPr sz="2500" b="1">
                <a:solidFill>
                  <a:srgbClr val="222F3E"/>
                </a:solidFill>
              </a:rPr>
              <a:t>671,210 tokens</a:t>
            </a:r>
          </a:p>
          <a:p>
            <a:pPr algn="ctr">
              <a:spcBef>
                <a:spcPts val="900"/>
              </a:spcBef>
            </a:pPr>
            <a:r>
              <a:rPr sz="1450">
                <a:solidFill>
                  <a:srgbClr val="222F3E"/>
                </a:solidFill>
              </a:rPr>
              <a:t>§274 + every complete dependency
layer through Layer 3</a:t>
            </a:r>
          </a:p>
          <a:p>
            <a:pPr algn="ctr">
              <a:spcBef>
                <a:spcPts val="1000"/>
              </a:spcBef>
            </a:pPr>
            <a:r>
              <a:rPr sz="1350" b="1">
                <a:solidFill>
                  <a:srgbClr val="5E6B78"/>
                </a:solidFill>
              </a:rPr>
              <a:t>3 replicates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38928"/>
            <a:ext cx="10561320" cy="43891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350" b="0">
                <a:solidFill>
                  <a:srgbClr val="5E6B78"/>
                </a:solidFill>
              </a:rPr>
              <a:t>gpt-4.1-mini  ·  temperature 0  ·  same policy-extraction instructions  ·  judge disabled during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14416"/>
            <a:ext cx="10561320" cy="56692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450" b="1">
                <a:solidFill>
                  <a:srgbClr val="4A607A"/>
                </a:solidFill>
              </a:rPr>
              <a:t>Bounded context stops before complete Layer 4: the complete candidate exceeds the 992,498-token statutory-context capacity.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/>
              <a:t>Three-replicate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881360" cy="47548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5E6B78"/>
                </a:solidFill>
              </a:rPr>
              <a:t>Bounded retrieval broadens statutory-family discovery, but the additional context does not improve executable policy correctness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72768"/>
          <a:ext cx="1090879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632"/>
                <a:gridCol w="2267712"/>
                <a:gridCol w="2194560"/>
                <a:gridCol w="2487168"/>
                <a:gridCol w="2331720"/>
              </a:tblGrid>
              <a:tr h="582930"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Context</a:t>
                      </a:r>
                    </a:p>
                  </a:txBody>
                  <a:tcPr marL="64008" marR="64008" marT="36576" marB="36576">
                    <a:solidFill>
                      <a:srgbClr val="4A607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Family discovery
recall</a:t>
                      </a:r>
                    </a:p>
                  </a:txBody>
                  <a:tcPr marL="64008" marR="64008" marT="36576" marB="36576">
                    <a:solidFill>
                      <a:srgbClr val="4A607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Usable-family
recall</a:t>
                      </a:r>
                    </a:p>
                  </a:txBody>
                  <a:tcPr marL="64008" marR="64008" marT="36576" marB="36576">
                    <a:solidFill>
                      <a:srgbClr val="4A607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Exact candidate
precision</a:t>
                      </a:r>
                    </a:p>
                  </a:txBody>
                  <a:tcPr marL="64008" marR="64008" marT="36576" marB="36576">
                    <a:solidFill>
                      <a:srgbClr val="4A607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Exact-string
stability</a:t>
                      </a:r>
                    </a:p>
                  </a:txBody>
                  <a:tcPr marL="64008" marR="64008" marT="36576" marB="36576">
                    <a:solidFill>
                      <a:srgbClr val="4A607A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l"/>
                      <a:r>
                        <a:rPr sz="1450" b="1">
                          <a:solidFill>
                            <a:srgbClr val="222F3E"/>
                          </a:solidFill>
                        </a:rPr>
                        <a:t>Target-only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50" b="0">
                          <a:solidFill>
                            <a:srgbClr val="222F3E"/>
                          </a:solidFill>
                        </a:rPr>
                        <a:t>28.57%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50" b="0">
                          <a:solidFill>
                            <a:srgbClr val="222F3E"/>
                          </a:solidFill>
                        </a:rPr>
                        <a:t>23.81%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50" b="0">
                          <a:solidFill>
                            <a:srgbClr val="222F3E"/>
                          </a:solidFill>
                        </a:rPr>
                        <a:t>6.25%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50" b="0">
                          <a:solidFill>
                            <a:srgbClr val="222F3E"/>
                          </a:solidFill>
                        </a:rPr>
                        <a:t>0.000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l"/>
                      <a:r>
                        <a:rPr sz="1450" b="1">
                          <a:solidFill>
                            <a:srgbClr val="222F3E"/>
                          </a:solidFill>
                        </a:rPr>
                        <a:t>Direct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50" b="0">
                          <a:solidFill>
                            <a:srgbClr val="222F3E"/>
                          </a:solidFill>
                        </a:rPr>
                        <a:t>23.81%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50" b="0">
                          <a:solidFill>
                            <a:srgbClr val="222F3E"/>
                          </a:solidFill>
                        </a:rPr>
                        <a:t>23.81%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50" b="0">
                          <a:solidFill>
                            <a:srgbClr val="222F3E"/>
                          </a:solidFill>
                        </a:rPr>
                        <a:t>5.88%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50" b="0">
                          <a:solidFill>
                            <a:srgbClr val="222F3E"/>
                          </a:solidFill>
                        </a:rPr>
                        <a:t>0.427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l"/>
                      <a:r>
                        <a:rPr sz="1450" b="1">
                          <a:solidFill>
                            <a:srgbClr val="4A607A"/>
                          </a:solidFill>
                        </a:rPr>
                        <a:t>Bounded</a:t>
                      </a:r>
                    </a:p>
                  </a:txBody>
                  <a:tcPr marL="64008" marR="64008" marT="36576" marB="36576">
                    <a:solidFill>
                      <a:srgbClr val="E6EA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50" b="1">
                          <a:solidFill>
                            <a:srgbClr val="4A607A"/>
                          </a:solidFill>
                        </a:rPr>
                        <a:t>35.71%</a:t>
                      </a:r>
                    </a:p>
                  </a:txBody>
                  <a:tcPr marL="64008" marR="64008" marT="36576" marB="36576">
                    <a:solidFill>
                      <a:srgbClr val="E6EA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50" b="1">
                          <a:solidFill>
                            <a:srgbClr val="222F3E"/>
                          </a:solidFill>
                        </a:rPr>
                        <a:t>21.43%</a:t>
                      </a:r>
                    </a:p>
                  </a:txBody>
                  <a:tcPr marL="64008" marR="64008" marT="36576" marB="36576">
                    <a:solidFill>
                      <a:srgbClr val="E6EA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50" b="1">
                          <a:solidFill>
                            <a:srgbClr val="222F3E"/>
                          </a:solidFill>
                        </a:rPr>
                        <a:t>0.00%</a:t>
                      </a:r>
                    </a:p>
                  </a:txBody>
                  <a:tcPr marL="64008" marR="64008" marT="36576" marB="36576">
                    <a:solidFill>
                      <a:srgbClr val="E6EA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50" b="1">
                          <a:solidFill>
                            <a:srgbClr val="4A607A"/>
                          </a:solidFill>
                        </a:rPr>
                        <a:t>1.000</a:t>
                      </a:r>
                    </a:p>
                  </a:txBody>
                  <a:tcPr marL="64008" marR="64008" marT="36576" marB="36576">
                    <a:solidFill>
                      <a:srgbClr val="E6EA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" y="3995928"/>
            <a:ext cx="10561320" cy="38404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250" b="0">
                <a:solidFill>
                  <a:srgbClr val="5E6B78"/>
                </a:solidFill>
              </a:rPr>
              <a:t>Exact-family recall: 4.76% target-only  ·  2.38% direct  ·  0.00% bounded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4471416"/>
            <a:ext cx="10588752" cy="941832"/>
          </a:xfrm>
          <a:prstGeom prst="roundRect">
            <a:avLst/>
          </a:prstGeom>
          <a:solidFill>
            <a:srgbClr val="E6EAEF"/>
          </a:solidFill>
          <a:ln w="15240">
            <a:solidFill>
              <a:srgbClr val="4A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09728" bIns="91440"/>
          <a:lstStyle/>
          <a:p>
            <a:pPr algn="ctr"/>
            <a:r>
              <a:rPr sz="1650" b="1">
                <a:solidFill>
                  <a:srgbClr val="4A607A"/>
                </a:solidFill>
              </a:rPr>
              <a:t>Case-study takeaway: recursive retrieval improves legal-rule discovery breadth; faithful translation into executable DFC constraints remains the bottleneck.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532120"/>
            <a:ext cx="10241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50" b="0">
                <a:solidFill>
                  <a:srgbClr val="222F3E"/>
                </a:solidFill>
              </a:rPr>
              <a:t>Bounded reproduced the same 7 unique constraints in all 3 runs (Jaccard = 1.000), indicating systematic rather than sampling-driven errors.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